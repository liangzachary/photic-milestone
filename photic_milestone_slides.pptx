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Hey, I'm Zachary and this is Blair. Our final project is called Photic. It's our Homework 3 path tracer, but now it can render water. In HW3, light just travels in a straight line between surfaces and nothing happens to it along the way. Underwater that's not true: the water absorbs and scatters light the whole way through. So that's what we added this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two halves to this. First the water itself: we wrote a medium that absorbs light per color and scatters it, and figures out where along the ray a scattering event happens. Multiple scattering comes for free because the rays keep bouncing. If you don't turn water on, it renders exactly like the old HW3. The second half is measurement: we render the scene at a few depths and measure how fast each color fades, which gives us Kd. On the right is the box with no water, then with water.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main result. The Kd we measured is about a third lower than what the simple no-scattering math predicts. That's the whole point: when light scatters it doesn't just vanish, a lot of it comes back into view, so the water fades slower than the naive number says. And the gap is biggest for blue and smallest for red, which lines up with how much each color scatters versus absorbs — we never told it to do that, so the color side is working. A few things are still rough, like the isotropic scattering and the ballpark coefficients, and next week we add the real Henyey-Greenstein scattering, a Secchi-disk test, and a convergence study.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2A3B"/>
        </a:solidFill>
      </p:bgPr>
    </p:bg>
    <p:spTree>
      <p:nvGrpSpPr>
        <p:cNvPr id="1" name=""/>
        <p:cNvGrpSpPr/>
        <p:nvPr/>
      </p:nvGrpSpPr>
      <p:grpSpPr>
        <a:xfrm>
          <a:off x="0" y="0"/>
          <a:ext cx="0" cy="0"/>
          <a:chOff x="0" y="0"/>
          <a:chExt cx="0" cy="0"/>
        </a:xfrm>
      </p:grpSpPr>
      <p:pic>
        <p:nvPicPr>
          <p:cNvPr id="2" name="Image 0" descr="C:\Users\liang\AppData\Local\Temp\claude\C--Users-liang-Downloads-hw-3-zach-and-blair\c371b1d7-b46c-45f5-acfc-41f05ec1c6e6\scratchpad\deck\img\water_clean.png">    </p:cNvPr>
          <p:cNvPicPr>
            <a:picLocks noChangeAspect="1"/>
          </p:cNvPicPr>
          <p:nvPr/>
        </p:nvPicPr>
        <p:blipFill>
          <a:blip r:embed="rId1"/>
          <a:srcRect l="0" r="0" t="0" b="0"/>
          <a:stretch/>
        </p:blipFill>
        <p:spPr>
          <a:xfrm>
            <a:off x="7818120" y="0"/>
            <a:ext cx="4373575" cy="6858000"/>
          </a:xfrm>
          <a:prstGeom prst="rect">
            <a:avLst/>
          </a:prstGeom>
        </p:spPr>
      </p:pic>
      <p:sp>
        <p:nvSpPr>
          <p:cNvPr id="3" name="Shape 0"/>
          <p:cNvSpPr/>
          <p:nvPr/>
        </p:nvSpPr>
        <p:spPr>
          <a:xfrm>
            <a:off x="7818120" y="0"/>
            <a:ext cx="1005840" cy="6858000"/>
          </a:xfrm>
          <a:prstGeom prst="rect">
            <a:avLst/>
          </a:prstGeom>
          <a:solidFill>
            <a:srgbClr val="0E2A3B">
              <a:alpha val="45000"/>
            </a:srgbClr>
          </a:solidFill>
          <a:ln/>
        </p:spPr>
      </p:sp>
      <p:sp>
        <p:nvSpPr>
          <p:cNvPr id="4" name="Text 1"/>
          <p:cNvSpPr/>
          <p:nvPr/>
        </p:nvSpPr>
        <p:spPr>
          <a:xfrm>
            <a:off x="685800" y="1234440"/>
            <a:ext cx="6766560" cy="365760"/>
          </a:xfrm>
          <a:prstGeom prst="rect">
            <a:avLst/>
          </a:prstGeom>
          <a:noFill/>
          <a:ln/>
        </p:spPr>
        <p:txBody>
          <a:bodyPr wrap="square" rtlCol="0" anchor="ctr"/>
          <a:lstStyle/>
          <a:p>
            <a:pPr indent="0" marL="0">
              <a:buNone/>
            </a:pPr>
            <a:r>
              <a:rPr lang="en-US" sz="1400" b="1" spc="300" kern="0" dirty="0">
                <a:solidFill>
                  <a:srgbClr val="38C6B4"/>
                </a:solidFill>
                <a:latin typeface="Calibri" pitchFamily="34" charset="0"/>
                <a:ea typeface="Calibri" pitchFamily="34" charset="-122"/>
                <a:cs typeface="Calibri" pitchFamily="34" charset="-120"/>
              </a:rPr>
              <a:t>WEEK 1 MILESTONE</a:t>
            </a:r>
            <a:endParaRPr lang="en-US" sz="1400" dirty="0"/>
          </a:p>
        </p:txBody>
      </p:sp>
      <p:sp>
        <p:nvSpPr>
          <p:cNvPr id="5" name="Text 2"/>
          <p:cNvSpPr/>
          <p:nvPr/>
        </p:nvSpPr>
        <p:spPr>
          <a:xfrm>
            <a:off x="621792" y="1554480"/>
            <a:ext cx="6858000" cy="1143000"/>
          </a:xfrm>
          <a:prstGeom prst="rect">
            <a:avLst/>
          </a:prstGeom>
          <a:noFill/>
          <a:ln/>
        </p:spPr>
        <p:txBody>
          <a:bodyPr wrap="square" rtlCol="0" anchor="ctr"/>
          <a:lstStyle/>
          <a:p>
            <a:pPr indent="0" marL="0">
              <a:buNone/>
            </a:pPr>
            <a:r>
              <a:rPr lang="en-US" sz="6600" b="1" dirty="0">
                <a:solidFill>
                  <a:srgbClr val="FFFFFF"/>
                </a:solidFill>
                <a:latin typeface="Cambria" pitchFamily="34" charset="0"/>
                <a:ea typeface="Cambria" pitchFamily="34" charset="-122"/>
                <a:cs typeface="Cambria" pitchFamily="34" charset="-120"/>
              </a:rPr>
              <a:t>Photic</a:t>
            </a:r>
            <a:endParaRPr lang="en-US" sz="6600" dirty="0"/>
          </a:p>
        </p:txBody>
      </p:sp>
      <p:sp>
        <p:nvSpPr>
          <p:cNvPr id="6" name="Text 3"/>
          <p:cNvSpPr/>
          <p:nvPr/>
        </p:nvSpPr>
        <p:spPr>
          <a:xfrm>
            <a:off x="685800" y="2880360"/>
            <a:ext cx="6675120" cy="822960"/>
          </a:xfrm>
          <a:prstGeom prst="rect">
            <a:avLst/>
          </a:prstGeom>
          <a:noFill/>
          <a:ln/>
        </p:spPr>
        <p:txBody>
          <a:bodyPr wrap="square" rtlCol="0" anchor="ctr"/>
          <a:lstStyle/>
          <a:p>
            <a:pPr indent="0" marL="0">
              <a:buNone/>
            </a:pPr>
            <a:r>
              <a:rPr lang="en-US" sz="2200" dirty="0">
                <a:solidFill>
                  <a:srgbClr val="CADCFC"/>
                </a:solidFill>
                <a:latin typeface="Calibri" pitchFamily="34" charset="0"/>
                <a:ea typeface="Calibri" pitchFamily="34" charset="-122"/>
                <a:cs typeface="Calibri" pitchFamily="34" charset="-120"/>
              </a:rPr>
              <a:t>A path tracer that renders how light fades underwater</a:t>
            </a:r>
            <a:endParaRPr lang="en-US" sz="2200" dirty="0"/>
          </a:p>
        </p:txBody>
      </p:sp>
      <p:sp>
        <p:nvSpPr>
          <p:cNvPr id="7" name="Text 4"/>
          <p:cNvSpPr/>
          <p:nvPr/>
        </p:nvSpPr>
        <p:spPr>
          <a:xfrm>
            <a:off x="685800" y="4572000"/>
            <a:ext cx="6675120" cy="1097280"/>
          </a:xfrm>
          <a:prstGeom prst="rect">
            <a:avLst/>
          </a:prstGeom>
          <a:noFill/>
          <a:ln/>
        </p:spPr>
        <p:txBody>
          <a:bodyPr wrap="square" rtlCol="0" anchor="ctr"/>
          <a:lstStyle/>
          <a:p>
            <a:pPr indent="0" marL="0">
              <a:spcAft>
                <a:spcPts val="600"/>
              </a:spcAft>
              <a:buNone/>
            </a:pPr>
            <a:r>
              <a:rPr lang="en-US" sz="1600" dirty="0">
                <a:solidFill>
                  <a:srgbClr val="FFFFFF"/>
                </a:solidFill>
                <a:latin typeface="Calibri" pitchFamily="34" charset="0"/>
                <a:ea typeface="Calibri" pitchFamily="34" charset="-122"/>
                <a:cs typeface="Calibri" pitchFamily="34" charset="-120"/>
              </a:rPr>
              <a:t>Week 1 Milestone  ·  CS 184: Computer Graphics, Summer 2026</a:t>
            </a:r>
            <a:endParaRPr lang="en-US" sz="1600" dirty="0"/>
          </a:p>
          <a:p>
            <a:pPr indent="0" marL="0">
              <a:buNone/>
            </a:pPr>
            <a:r>
              <a:rPr lang="en-US" sz="1800" b="1" dirty="0">
                <a:solidFill>
                  <a:srgbClr val="FFFFFF"/>
                </a:solidFill>
                <a:latin typeface="Calibri" pitchFamily="34" charset="0"/>
                <a:ea typeface="Calibri" pitchFamily="34" charset="-122"/>
                <a:cs typeface="Calibri" pitchFamily="34" charset="-120"/>
              </a:rPr>
              <a:t>Zachary Liang  &amp;  Blair Xu</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AF2F6"/>
        </a:solidFill>
      </p:bgPr>
    </p:bg>
    <p:spTree>
      <p:nvGrpSpPr>
        <p:cNvPr id="1" name=""/>
        <p:cNvGrpSpPr/>
        <p:nvPr/>
      </p:nvGrpSpPr>
      <p:grpSpPr>
        <a:xfrm>
          <a:off x="0" y="0"/>
          <a:ext cx="0" cy="0"/>
          <a:chOff x="0" y="0"/>
          <a:chExt cx="0" cy="0"/>
        </a:xfrm>
      </p:grpSpPr>
      <p:sp>
        <p:nvSpPr>
          <p:cNvPr id="2" name="Text 0"/>
          <p:cNvSpPr/>
          <p:nvPr/>
        </p:nvSpPr>
        <p:spPr>
          <a:xfrm>
            <a:off x="457200" y="365760"/>
            <a:ext cx="8229600" cy="731520"/>
          </a:xfrm>
          <a:prstGeom prst="rect">
            <a:avLst/>
          </a:prstGeom>
          <a:noFill/>
          <a:ln/>
        </p:spPr>
        <p:txBody>
          <a:bodyPr wrap="square" rtlCol="0" anchor="ctr"/>
          <a:lstStyle/>
          <a:p>
            <a:pPr indent="0" marL="0">
              <a:buNone/>
            </a:pPr>
            <a:r>
              <a:rPr lang="en-US" sz="3400" b="1" dirty="0">
                <a:solidFill>
                  <a:srgbClr val="16323F"/>
                </a:solidFill>
                <a:latin typeface="Cambria" pitchFamily="34" charset="0"/>
                <a:ea typeface="Cambria" pitchFamily="34" charset="-122"/>
                <a:cs typeface="Cambria" pitchFamily="34" charset="-120"/>
              </a:rPr>
              <a:t>What we built</a:t>
            </a:r>
            <a:endParaRPr lang="en-US" sz="3400" dirty="0"/>
          </a:p>
        </p:txBody>
      </p:sp>
      <p:sp>
        <p:nvSpPr>
          <p:cNvPr id="3" name="Text 1"/>
          <p:cNvSpPr/>
          <p:nvPr/>
        </p:nvSpPr>
        <p:spPr>
          <a:xfrm>
            <a:off x="457200" y="1280160"/>
            <a:ext cx="7315200" cy="365760"/>
          </a:xfrm>
          <a:prstGeom prst="rect">
            <a:avLst/>
          </a:prstGeom>
          <a:noFill/>
          <a:ln/>
        </p:spPr>
        <p:txBody>
          <a:bodyPr wrap="square" rtlCol="0" anchor="ctr"/>
          <a:lstStyle/>
          <a:p>
            <a:pPr indent="0" marL="0">
              <a:buNone/>
            </a:pPr>
            <a:r>
              <a:rPr lang="en-US" sz="2100" b="1" dirty="0">
                <a:solidFill>
                  <a:srgbClr val="065A82"/>
                </a:solidFill>
                <a:latin typeface="Calibri" pitchFamily="34" charset="0"/>
                <a:ea typeface="Calibri" pitchFamily="34" charset="-122"/>
                <a:cs typeface="Calibri" pitchFamily="34" charset="-120"/>
              </a:rPr>
              <a:t>The water</a:t>
            </a:r>
            <a:endParaRPr lang="en-US" sz="2100" dirty="0"/>
          </a:p>
        </p:txBody>
      </p:sp>
      <p:sp>
        <p:nvSpPr>
          <p:cNvPr id="4" name="Text 2"/>
          <p:cNvSpPr/>
          <p:nvPr/>
        </p:nvSpPr>
        <p:spPr>
          <a:xfrm>
            <a:off x="502920" y="1691640"/>
            <a:ext cx="7406640" cy="2103120"/>
          </a:xfrm>
          <a:prstGeom prst="rect">
            <a:avLst/>
          </a:prstGeom>
          <a:noFill/>
          <a:ln/>
        </p:spPr>
        <p:txBody>
          <a:bodyPr wrap="square" rtlCol="0" anchor="t"/>
          <a:lstStyle/>
          <a:p>
            <a:pPr marL="177800" indent="-177800">
              <a:spcAft>
                <a:spcPts val="800"/>
              </a:spcAft>
              <a:buSzPct val="100000"/>
              <a:buChar char="•"/>
            </a:pPr>
            <a:r>
              <a:rPr lang="en-US" sz="1450" dirty="0">
                <a:solidFill>
                  <a:srgbClr val="16323F"/>
                </a:solidFill>
                <a:latin typeface="Calibri" pitchFamily="34" charset="0"/>
                <a:ea typeface="Calibri" pitchFamily="34" charset="-122"/>
                <a:cs typeface="Calibri" pitchFamily="34" charset="-120"/>
              </a:rPr>
              <a:t>Water fills whatever scene we load, so we didn't have to build any new geometry</a:t>
            </a:r>
            <a:endParaRPr lang="en-US" sz="1450" dirty="0"/>
          </a:p>
          <a:p>
            <a:pPr marL="177800" indent="-177800">
              <a:spcAft>
                <a:spcPts val="800"/>
              </a:spcAft>
              <a:buSzPct val="100000"/>
              <a:buChar char="•"/>
            </a:pPr>
            <a:r>
              <a:rPr lang="en-US" sz="1450" dirty="0">
                <a:solidFill>
                  <a:srgbClr val="16323F"/>
                </a:solidFill>
                <a:latin typeface="Calibri" pitchFamily="34" charset="0"/>
                <a:ea typeface="Calibri" pitchFamily="34" charset="-122"/>
                <a:cs typeface="Calibri" pitchFamily="34" charset="-120"/>
              </a:rPr>
              <a:t>It absorbs light per color channel and scatters it as the ray travels</a:t>
            </a:r>
            <a:endParaRPr lang="en-US" sz="1450" dirty="0"/>
          </a:p>
          <a:p>
            <a:pPr marL="177800" indent="-177800">
              <a:spcAft>
                <a:spcPts val="800"/>
              </a:spcAft>
              <a:buSzPct val="100000"/>
              <a:buChar char="•"/>
            </a:pPr>
            <a:r>
              <a:rPr lang="en-US" sz="1450" dirty="0">
                <a:solidFill>
                  <a:srgbClr val="16323F"/>
                </a:solidFill>
                <a:latin typeface="Calibri" pitchFamily="34" charset="0"/>
                <a:ea typeface="Calibri" pitchFamily="34" charset="-122"/>
                <a:cs typeface="Calibri" pitchFamily="34" charset="-120"/>
              </a:rPr>
              <a:t>We pick where the ray scatters directly, so there's no slow ray-marching</a:t>
            </a:r>
            <a:endParaRPr lang="en-US" sz="1450" dirty="0"/>
          </a:p>
          <a:p>
            <a:pPr marL="177800" indent="-177800">
              <a:spcAft>
                <a:spcPts val="800"/>
              </a:spcAft>
              <a:buSzPct val="100000"/>
              <a:buChar char="•"/>
            </a:pPr>
            <a:r>
              <a:rPr lang="en-US" sz="1450" dirty="0">
                <a:solidFill>
                  <a:srgbClr val="16323F"/>
                </a:solidFill>
                <a:latin typeface="Calibri" pitchFamily="34" charset="0"/>
                <a:ea typeface="Calibri" pitchFamily="34" charset="-122"/>
                <a:cs typeface="Calibri" pitchFamily="34" charset="-120"/>
              </a:rPr>
              <a:t>Each scatter point samples the lights, and multiple scattering happens on its own as rays keep bouncing</a:t>
            </a:r>
            <a:endParaRPr lang="en-US" sz="1450" dirty="0"/>
          </a:p>
          <a:p>
            <a:pPr marL="177800" indent="-177800">
              <a:spcAft>
                <a:spcPts val="800"/>
              </a:spcAft>
              <a:buSzPct val="100000"/>
              <a:buChar char="•"/>
            </a:pPr>
            <a:r>
              <a:rPr lang="en-US" sz="1450" dirty="0">
                <a:solidFill>
                  <a:srgbClr val="16323F"/>
                </a:solidFill>
                <a:latin typeface="Calibri" pitchFamily="34" charset="0"/>
                <a:ea typeface="Calibri" pitchFamily="34" charset="-122"/>
                <a:cs typeface="Calibri" pitchFamily="34" charset="-120"/>
              </a:rPr>
              <a:t>With water turned off, it renders exactly like our old HW3</a:t>
            </a:r>
            <a:endParaRPr lang="en-US" sz="1450" dirty="0"/>
          </a:p>
        </p:txBody>
      </p:sp>
      <p:sp>
        <p:nvSpPr>
          <p:cNvPr id="5" name="Text 3"/>
          <p:cNvSpPr/>
          <p:nvPr/>
        </p:nvSpPr>
        <p:spPr>
          <a:xfrm>
            <a:off x="457200" y="3931920"/>
            <a:ext cx="7315200" cy="365760"/>
          </a:xfrm>
          <a:prstGeom prst="rect">
            <a:avLst/>
          </a:prstGeom>
          <a:noFill/>
          <a:ln/>
        </p:spPr>
        <p:txBody>
          <a:bodyPr wrap="square" rtlCol="0" anchor="ctr"/>
          <a:lstStyle/>
          <a:p>
            <a:pPr indent="0" marL="0">
              <a:buNone/>
            </a:pPr>
            <a:r>
              <a:rPr lang="en-US" sz="2100" b="1" dirty="0">
                <a:solidFill>
                  <a:srgbClr val="065A82"/>
                </a:solidFill>
                <a:latin typeface="Calibri" pitchFamily="34" charset="0"/>
                <a:ea typeface="Calibri" pitchFamily="34" charset="-122"/>
                <a:cs typeface="Calibri" pitchFamily="34" charset="-120"/>
              </a:rPr>
              <a:t>Measuring it</a:t>
            </a:r>
            <a:endParaRPr lang="en-US" sz="2100" dirty="0"/>
          </a:p>
        </p:txBody>
      </p:sp>
      <p:sp>
        <p:nvSpPr>
          <p:cNvPr id="6" name="Text 4"/>
          <p:cNvSpPr/>
          <p:nvPr/>
        </p:nvSpPr>
        <p:spPr>
          <a:xfrm>
            <a:off x="502920" y="4343400"/>
            <a:ext cx="7406640" cy="1828800"/>
          </a:xfrm>
          <a:prstGeom prst="rect">
            <a:avLst/>
          </a:prstGeom>
          <a:noFill/>
          <a:ln/>
        </p:spPr>
        <p:txBody>
          <a:bodyPr wrap="square" rtlCol="0" anchor="t"/>
          <a:lstStyle/>
          <a:p>
            <a:pPr marL="177800" indent="-177800">
              <a:spcAft>
                <a:spcPts val="800"/>
              </a:spcAft>
              <a:buSzPct val="100000"/>
              <a:buChar char="•"/>
            </a:pPr>
            <a:r>
              <a:rPr lang="en-US" sz="1450" dirty="0">
                <a:solidFill>
                  <a:srgbClr val="16323F"/>
                </a:solidFill>
                <a:latin typeface="Calibri" pitchFamily="34" charset="0"/>
                <a:ea typeface="Calibri" pitchFamily="34" charset="-122"/>
                <a:cs typeface="Calibri" pitchFamily="34" charset="-120"/>
              </a:rPr>
              <a:t>We render the same scene at a few different depths</a:t>
            </a:r>
            <a:endParaRPr lang="en-US" sz="1450" dirty="0"/>
          </a:p>
          <a:p>
            <a:pPr marL="177800" indent="-177800">
              <a:spcAft>
                <a:spcPts val="800"/>
              </a:spcAft>
              <a:buSzPct val="100000"/>
              <a:buChar char="•"/>
            </a:pPr>
            <a:r>
              <a:rPr lang="en-US" sz="1450" dirty="0">
                <a:solidFill>
                  <a:srgbClr val="16323F"/>
                </a:solidFill>
                <a:latin typeface="Calibri" pitchFamily="34" charset="0"/>
                <a:ea typeface="Calibri" pitchFamily="34" charset="-122"/>
                <a:cs typeface="Calibri" pitchFamily="34" charset="-120"/>
              </a:rPr>
              <a:t>Then measure how fast each color channel fades, which gives us Kd</a:t>
            </a:r>
            <a:endParaRPr lang="en-US" sz="1450" dirty="0"/>
          </a:p>
          <a:p>
            <a:pPr marL="177800" indent="-177800">
              <a:spcAft>
                <a:spcPts val="800"/>
              </a:spcAft>
              <a:buSzPct val="100000"/>
              <a:buChar char="•"/>
            </a:pPr>
            <a:r>
              <a:rPr lang="en-US" sz="1450" dirty="0">
                <a:solidFill>
                  <a:srgbClr val="16323F"/>
                </a:solidFill>
                <a:latin typeface="Calibri" pitchFamily="34" charset="0"/>
                <a:ea typeface="Calibri" pitchFamily="34" charset="-122"/>
                <a:cs typeface="Calibri" pitchFamily="34" charset="-120"/>
              </a:rPr>
              <a:t>And compare that to the simple prediction that ignores scattering</a:t>
            </a:r>
            <a:endParaRPr lang="en-US" sz="1450" dirty="0"/>
          </a:p>
          <a:p>
            <a:pPr marL="177800" indent="-177800">
              <a:spcAft>
                <a:spcPts val="800"/>
              </a:spcAft>
              <a:buSzPct val="100000"/>
              <a:buChar char="•"/>
            </a:pPr>
            <a:r>
              <a:rPr lang="en-US" sz="1450" dirty="0">
                <a:solidFill>
                  <a:srgbClr val="16323F"/>
                </a:solidFill>
                <a:latin typeface="Calibri" pitchFamily="34" charset="0"/>
                <a:ea typeface="Calibri" pitchFamily="34" charset="-122"/>
                <a:cs typeface="Calibri" pitchFamily="34" charset="-120"/>
              </a:rPr>
              <a:t>The Secchi-disk check is already wired up for next week</a:t>
            </a:r>
            <a:endParaRPr lang="en-US" sz="1450" dirty="0"/>
          </a:p>
        </p:txBody>
      </p:sp>
      <p:pic>
        <p:nvPicPr>
          <p:cNvPr id="7" name="Image 0" descr="C:\Users\liang\AppData\Local\Temp\claude\C--Users-liang-Downloads-hw-3-zach-and-blair\c371b1d7-b46c-45f5-acfc-41f05ec1c6e6\scratchpad\deck\img\no_water.png">    </p:cNvPr>
          <p:cNvPicPr>
            <a:picLocks noChangeAspect="1"/>
          </p:cNvPicPr>
          <p:nvPr/>
        </p:nvPicPr>
        <p:blipFill>
          <a:blip r:embed="rId1"/>
          <a:stretch>
            <a:fillRect/>
          </a:stretch>
        </p:blipFill>
        <p:spPr>
          <a:xfrm>
            <a:off x="8321040" y="1371600"/>
            <a:ext cx="3172968" cy="2377440"/>
          </a:xfrm>
          <a:prstGeom prst="rect">
            <a:avLst/>
          </a:prstGeom>
        </p:spPr>
      </p:pic>
      <p:sp>
        <p:nvSpPr>
          <p:cNvPr id="8" name="Text 5"/>
          <p:cNvSpPr/>
          <p:nvPr/>
        </p:nvSpPr>
        <p:spPr>
          <a:xfrm>
            <a:off x="8321040" y="3767328"/>
            <a:ext cx="3172968" cy="274320"/>
          </a:xfrm>
          <a:prstGeom prst="rect">
            <a:avLst/>
          </a:prstGeom>
          <a:noFill/>
          <a:ln/>
        </p:spPr>
        <p:txBody>
          <a:bodyPr wrap="square" rtlCol="0" anchor="ctr"/>
          <a:lstStyle/>
          <a:p>
            <a:pPr algn="ctr" indent="0" marL="0">
              <a:buNone/>
            </a:pPr>
            <a:r>
              <a:rPr lang="en-US" sz="1100" i="1" dirty="0">
                <a:solidFill>
                  <a:srgbClr val="5A7684"/>
                </a:solidFill>
                <a:latin typeface="Calibri" pitchFamily="34" charset="0"/>
                <a:ea typeface="Calibri" pitchFamily="34" charset="-122"/>
                <a:cs typeface="Calibri" pitchFamily="34" charset="-120"/>
              </a:rPr>
              <a:t>HW3 — no water</a:t>
            </a:r>
            <a:endParaRPr lang="en-US" sz="1100" dirty="0"/>
          </a:p>
        </p:txBody>
      </p:sp>
      <p:pic>
        <p:nvPicPr>
          <p:cNvPr id="9" name="Image 1" descr="C:\Users\liang\AppData\Local\Temp\claude\C--Users-liang-Downloads-hw-3-zach-and-blair\c371b1d7-b46c-45f5-acfc-41f05ec1c6e6\scratchpad\deck\img\water_clean.png">    </p:cNvPr>
          <p:cNvPicPr>
            <a:picLocks noChangeAspect="1"/>
          </p:cNvPicPr>
          <p:nvPr/>
        </p:nvPicPr>
        <p:blipFill>
          <a:blip r:embed="rId2"/>
          <a:stretch>
            <a:fillRect/>
          </a:stretch>
        </p:blipFill>
        <p:spPr>
          <a:xfrm>
            <a:off x="8321040" y="4160520"/>
            <a:ext cx="3172968" cy="2377440"/>
          </a:xfrm>
          <a:prstGeom prst="rect">
            <a:avLst/>
          </a:prstGeom>
        </p:spPr>
      </p:pic>
      <p:sp>
        <p:nvSpPr>
          <p:cNvPr id="10" name="Text 6"/>
          <p:cNvSpPr/>
          <p:nvPr/>
        </p:nvSpPr>
        <p:spPr>
          <a:xfrm>
            <a:off x="8321040" y="6556248"/>
            <a:ext cx="3172968" cy="274320"/>
          </a:xfrm>
          <a:prstGeom prst="rect">
            <a:avLst/>
          </a:prstGeom>
          <a:noFill/>
          <a:ln/>
        </p:spPr>
        <p:txBody>
          <a:bodyPr wrap="square" rtlCol="0" anchor="ctr"/>
          <a:lstStyle/>
          <a:p>
            <a:pPr algn="ctr" indent="0" marL="0">
              <a:buNone/>
            </a:pPr>
            <a:r>
              <a:rPr lang="en-US" sz="1100" i="1" dirty="0">
                <a:solidFill>
                  <a:srgbClr val="5A7684"/>
                </a:solidFill>
                <a:latin typeface="Calibri" pitchFamily="34" charset="0"/>
                <a:ea typeface="Calibri" pitchFamily="34" charset="-122"/>
                <a:cs typeface="Calibri" pitchFamily="34" charset="-120"/>
              </a:rPr>
              <a:t>With water (turbidity 0.15)</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AF2F6"/>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3400" b="1" dirty="0">
                <a:solidFill>
                  <a:srgbClr val="16323F"/>
                </a:solidFill>
                <a:latin typeface="Cambria" pitchFamily="34" charset="0"/>
                <a:ea typeface="Cambria" pitchFamily="34" charset="-122"/>
                <a:cs typeface="Cambria" pitchFamily="34" charset="-120"/>
              </a:rPr>
              <a:t>The result</a:t>
            </a:r>
            <a:endParaRPr lang="en-US" sz="3400" dirty="0"/>
          </a:p>
        </p:txBody>
      </p:sp>
      <p:sp>
        <p:nvSpPr>
          <p:cNvPr id="3" name="Text 1"/>
          <p:cNvSpPr/>
          <p:nvPr/>
        </p:nvSpPr>
        <p:spPr>
          <a:xfrm>
            <a:off x="457200" y="960120"/>
            <a:ext cx="11247120" cy="365760"/>
          </a:xfrm>
          <a:prstGeom prst="rect">
            <a:avLst/>
          </a:prstGeom>
          <a:noFill/>
          <a:ln/>
        </p:spPr>
        <p:txBody>
          <a:bodyPr wrap="square" rtlCol="0" anchor="ctr"/>
          <a:lstStyle/>
          <a:p>
            <a:pPr indent="0" marL="0">
              <a:buNone/>
            </a:pPr>
            <a:r>
              <a:rPr lang="en-US" sz="1600" dirty="0">
                <a:solidFill>
                  <a:srgbClr val="5A7684"/>
                </a:solidFill>
                <a:latin typeface="Calibri" pitchFamily="34" charset="0"/>
                <a:ea typeface="Calibri" pitchFamily="34" charset="-122"/>
                <a:cs typeface="Calibri" pitchFamily="34" charset="-120"/>
              </a:rPr>
              <a:t>The water fades slower than the simple math predicts — on every color channel.</a:t>
            </a:r>
            <a:endParaRPr lang="en-US" sz="1600" dirty="0"/>
          </a:p>
        </p:txBody>
      </p:sp>
      <p:sp>
        <p:nvSpPr>
          <p:cNvPr id="4" name="Shape 2"/>
          <p:cNvSpPr/>
          <p:nvPr/>
        </p:nvSpPr>
        <p:spPr>
          <a:xfrm>
            <a:off x="457200" y="1554480"/>
            <a:ext cx="3063240" cy="2057400"/>
          </a:xfrm>
          <a:prstGeom prst="roundRect">
            <a:avLst>
              <a:gd name="adj" fmla="val 4444"/>
            </a:avLst>
          </a:prstGeom>
          <a:solidFill>
            <a:srgbClr val="065A82"/>
          </a:solidFill>
          <a:ln/>
        </p:spPr>
      </p:sp>
      <p:sp>
        <p:nvSpPr>
          <p:cNvPr id="5" name="Text 3"/>
          <p:cNvSpPr/>
          <p:nvPr/>
        </p:nvSpPr>
        <p:spPr>
          <a:xfrm>
            <a:off x="548640" y="1691640"/>
            <a:ext cx="2880360" cy="1783080"/>
          </a:xfrm>
          <a:prstGeom prst="rect">
            <a:avLst/>
          </a:prstGeom>
          <a:noFill/>
          <a:ln/>
        </p:spPr>
        <p:txBody>
          <a:bodyPr wrap="square" rtlCol="0" anchor="ctr"/>
          <a:lstStyle/>
          <a:p>
            <a:pPr algn="ctr" indent="0" marL="0">
              <a:buNone/>
            </a:pPr>
            <a:r>
              <a:rPr lang="en-US" sz="4600" b="1" dirty="0">
                <a:solidFill>
                  <a:srgbClr val="FFFFFF"/>
                </a:solidFill>
                <a:latin typeface="Calibri" pitchFamily="34" charset="0"/>
                <a:ea typeface="Calibri" pitchFamily="34" charset="-122"/>
                <a:cs typeface="Calibri" pitchFamily="34" charset="-120"/>
              </a:rPr>
              <a:t>33–36%</a:t>
            </a:r>
            <a:endParaRPr lang="en-US" sz="4600" dirty="0"/>
          </a:p>
          <a:p>
            <a:pPr algn="ctr" indent="0" marL="0">
              <a:buNone/>
            </a:pPr>
            <a:r>
              <a:rPr lang="en-US" sz="1300" dirty="0">
                <a:solidFill>
                  <a:srgbClr val="CADCFC"/>
                </a:solidFill>
                <a:latin typeface="Calibri" pitchFamily="34" charset="0"/>
                <a:ea typeface="Calibri" pitchFamily="34" charset="-122"/>
                <a:cs typeface="Calibri" pitchFamily="34" charset="-120"/>
              </a:rPr>
              <a:t>lower than the simple prediction, every channel</a:t>
            </a:r>
            <a:endParaRPr lang="en-US" sz="4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3794760" y="1554480"/>
          <a:ext cx="7909560" cy="2057400"/>
        </p:xfrm>
        <a:graphic>
          <a:graphicData uri="http://schemas.openxmlformats.org/drawingml/2006/table">
            <a:tbl>
              <a:tblPr/>
              <a:tblGrid>
                <a:gridCol w="1600200"/>
                <a:gridCol w="2103120"/>
                <a:gridCol w="2286000"/>
                <a:gridCol w="1920240"/>
              </a:tblGrid>
              <a:tr h="514350">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channel</a:t>
                      </a:r>
                      <a:endParaRPr lang="en-US" sz="1300" dirty="0">
                        <a:latin typeface="Calibri" charset="0"/>
                        <a:ea typeface="Calibri" charset="0"/>
                        <a:cs typeface="Calibri" charset="0"/>
                      </a:endParaRPr>
                    </a:p>
                  </a:txBody>
                  <a:tcPr marL="91440" marR="91440" marT="45720" marB="45720" anchor="ctr">
                    <a:lnL w="12700" cap="flat" cmpd="sng" algn="ctr">
                      <a:solidFill>
                        <a:srgbClr val="D2E0E7"/>
                      </a:solidFill>
                      <a:prstDash val="solid"/>
                      <a:round/>
                      <a:headEnd type="none" w="med" len="med"/>
                      <a:tailEnd type="none" w="med" len="med"/>
                    </a:lnL>
                    <a:lnR w="12700" cap="flat" cmpd="sng" algn="ctr">
                      <a:solidFill>
                        <a:srgbClr val="D2E0E7"/>
                      </a:solidFill>
                      <a:prstDash val="solid"/>
                      <a:round/>
                      <a:headEnd type="none" w="med" len="med"/>
                      <a:tailEnd type="none" w="med" len="med"/>
                    </a:lnR>
                    <a:lnT w="12700" cap="flat" cmpd="sng" algn="ctr">
                      <a:solidFill>
                        <a:srgbClr val="D2E0E7"/>
                      </a:solidFill>
                      <a:prstDash val="solid"/>
                      <a:round/>
                      <a:headEnd type="none" w="med" len="med"/>
                      <a:tailEnd type="none" w="med" len="med"/>
                    </a:lnT>
                    <a:lnB w="12700" cap="flat" cmpd="sng" algn="ctr">
                      <a:solidFill>
                        <a:srgbClr val="D2E0E7"/>
                      </a:solidFill>
                      <a:prstDash val="solid"/>
                      <a:round/>
                      <a:headEnd type="none" w="med" len="med"/>
                      <a:tailEnd type="none" w="med" len="med"/>
                    </a:lnB>
                    <a:solidFill>
                      <a:srgbClr val="1C7293"/>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measured Kd</a:t>
                      </a:r>
                      <a:endParaRPr lang="en-US" sz="1300" dirty="0">
                        <a:latin typeface="Calibri" charset="0"/>
                        <a:ea typeface="Calibri" charset="0"/>
                        <a:cs typeface="Calibri" charset="0"/>
                      </a:endParaRPr>
                    </a:p>
                  </a:txBody>
                  <a:tcPr marL="91440" marR="91440" marT="45720" marB="45720" anchor="ctr">
                    <a:lnL w="12700" cap="flat" cmpd="sng" algn="ctr">
                      <a:solidFill>
                        <a:srgbClr val="D2E0E7"/>
                      </a:solidFill>
                      <a:prstDash val="solid"/>
                      <a:round/>
                      <a:headEnd type="none" w="med" len="med"/>
                      <a:tailEnd type="none" w="med" len="med"/>
                    </a:lnL>
                    <a:lnR w="12700" cap="flat" cmpd="sng" algn="ctr">
                      <a:solidFill>
                        <a:srgbClr val="D2E0E7"/>
                      </a:solidFill>
                      <a:prstDash val="solid"/>
                      <a:round/>
                      <a:headEnd type="none" w="med" len="med"/>
                      <a:tailEnd type="none" w="med" len="med"/>
                    </a:lnR>
                    <a:lnT w="12700" cap="flat" cmpd="sng" algn="ctr">
                      <a:solidFill>
                        <a:srgbClr val="D2E0E7"/>
                      </a:solidFill>
                      <a:prstDash val="solid"/>
                      <a:round/>
                      <a:headEnd type="none" w="med" len="med"/>
                      <a:tailEnd type="none" w="med" len="med"/>
                    </a:lnT>
                    <a:lnB w="12700" cap="flat" cmpd="sng" algn="ctr">
                      <a:solidFill>
                        <a:srgbClr val="D2E0E7"/>
                      </a:solidFill>
                      <a:prstDash val="solid"/>
                      <a:round/>
                      <a:headEnd type="none" w="med" len="med"/>
                      <a:tailEnd type="none" w="med" len="med"/>
                    </a:lnB>
                    <a:solidFill>
                      <a:srgbClr val="1C7293"/>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simple prediction</a:t>
                      </a:r>
                      <a:endParaRPr lang="en-US" sz="1300" dirty="0">
                        <a:latin typeface="Calibri" charset="0"/>
                        <a:ea typeface="Calibri" charset="0"/>
                        <a:cs typeface="Calibri" charset="0"/>
                      </a:endParaRPr>
                    </a:p>
                  </a:txBody>
                  <a:tcPr marL="91440" marR="91440" marT="45720" marB="45720" anchor="ctr">
                    <a:lnL w="12700" cap="flat" cmpd="sng" algn="ctr">
                      <a:solidFill>
                        <a:srgbClr val="D2E0E7"/>
                      </a:solidFill>
                      <a:prstDash val="solid"/>
                      <a:round/>
                      <a:headEnd type="none" w="med" len="med"/>
                      <a:tailEnd type="none" w="med" len="med"/>
                    </a:lnL>
                    <a:lnR w="12700" cap="flat" cmpd="sng" algn="ctr">
                      <a:solidFill>
                        <a:srgbClr val="D2E0E7"/>
                      </a:solidFill>
                      <a:prstDash val="solid"/>
                      <a:round/>
                      <a:headEnd type="none" w="med" len="med"/>
                      <a:tailEnd type="none" w="med" len="med"/>
                    </a:lnR>
                    <a:lnT w="12700" cap="flat" cmpd="sng" algn="ctr">
                      <a:solidFill>
                        <a:srgbClr val="D2E0E7"/>
                      </a:solidFill>
                      <a:prstDash val="solid"/>
                      <a:round/>
                      <a:headEnd type="none" w="med" len="med"/>
                      <a:tailEnd type="none" w="med" len="med"/>
                    </a:lnT>
                    <a:lnB w="12700" cap="flat" cmpd="sng" algn="ctr">
                      <a:solidFill>
                        <a:srgbClr val="D2E0E7"/>
                      </a:solidFill>
                      <a:prstDash val="solid"/>
                      <a:round/>
                      <a:headEnd type="none" w="med" len="med"/>
                      <a:tailEnd type="none" w="med" len="med"/>
                    </a:lnB>
                    <a:solidFill>
                      <a:srgbClr val="1C7293"/>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how much it scatters</a:t>
                      </a:r>
                      <a:endParaRPr lang="en-US" sz="1300" dirty="0">
                        <a:latin typeface="Calibri" charset="0"/>
                        <a:ea typeface="Calibri" charset="0"/>
                        <a:cs typeface="Calibri" charset="0"/>
                      </a:endParaRPr>
                    </a:p>
                  </a:txBody>
                  <a:tcPr marL="91440" marR="91440" marT="45720" marB="45720" anchor="ctr">
                    <a:lnL w="12700" cap="flat" cmpd="sng" algn="ctr">
                      <a:solidFill>
                        <a:srgbClr val="D2E0E7"/>
                      </a:solidFill>
                      <a:prstDash val="solid"/>
                      <a:round/>
                      <a:headEnd type="none" w="med" len="med"/>
                      <a:tailEnd type="none" w="med" len="med"/>
                    </a:lnL>
                    <a:lnR w="12700" cap="flat" cmpd="sng" algn="ctr">
                      <a:solidFill>
                        <a:srgbClr val="D2E0E7"/>
                      </a:solidFill>
                      <a:prstDash val="solid"/>
                      <a:round/>
                      <a:headEnd type="none" w="med" len="med"/>
                      <a:tailEnd type="none" w="med" len="med"/>
                    </a:lnR>
                    <a:lnT w="12700" cap="flat" cmpd="sng" algn="ctr">
                      <a:solidFill>
                        <a:srgbClr val="D2E0E7"/>
                      </a:solidFill>
                      <a:prstDash val="solid"/>
                      <a:round/>
                      <a:headEnd type="none" w="med" len="med"/>
                      <a:tailEnd type="none" w="med" len="med"/>
                    </a:lnT>
                    <a:lnB w="12700" cap="flat" cmpd="sng" algn="ctr">
                      <a:solidFill>
                        <a:srgbClr val="D2E0E7"/>
                      </a:solidFill>
                      <a:prstDash val="solid"/>
                      <a:round/>
                      <a:headEnd type="none" w="med" len="med"/>
                      <a:tailEnd type="none" w="med" len="med"/>
                    </a:lnB>
                    <a:solidFill>
                      <a:srgbClr val="1C7293"/>
                    </a:solidFill>
                  </a:tcPr>
                </a:tc>
              </a:tr>
              <a:tr h="514350">
                <a:tc>
                  <a:txBody>
                    <a:bodyPr/>
                    <a:lstStyle/>
                    <a:p>
                      <a:pPr algn="ctr" indent="0" marL="0">
                        <a:buNone/>
                      </a:pPr>
                      <a:r>
                        <a:rPr lang="en-US" sz="1400" dirty="0">
                          <a:solidFill>
                            <a:srgbClr val="16323F"/>
                          </a:solidFill>
                          <a:latin typeface="Calibri" pitchFamily="34" charset="0"/>
                          <a:ea typeface="Calibri" pitchFamily="34" charset="-122"/>
                          <a:cs typeface="Calibri" pitchFamily="34" charset="-120"/>
                        </a:rPr>
                        <a:t>R</a:t>
                      </a:r>
                      <a:endParaRPr lang="en-US" sz="1400" dirty="0">
                        <a:latin typeface="Calibri" charset="0"/>
                        <a:ea typeface="Calibri" charset="0"/>
                        <a:cs typeface="Calibri" charset="0"/>
                      </a:endParaRPr>
                    </a:p>
                  </a:txBody>
                  <a:tcPr marL="91440" marR="91440" marT="45720" marB="45720" anchor="ctr">
                    <a:lnL w="12700" cap="flat" cmpd="sng" algn="ctr">
                      <a:solidFill>
                        <a:srgbClr val="D2E0E7"/>
                      </a:solidFill>
                      <a:prstDash val="solid"/>
                      <a:round/>
                      <a:headEnd type="none" w="med" len="med"/>
                      <a:tailEnd type="none" w="med" len="med"/>
                    </a:lnL>
                    <a:lnR w="12700" cap="flat" cmpd="sng" algn="ctr">
                      <a:solidFill>
                        <a:srgbClr val="D2E0E7"/>
                      </a:solidFill>
                      <a:prstDash val="solid"/>
                      <a:round/>
                      <a:headEnd type="none" w="med" len="med"/>
                      <a:tailEnd type="none" w="med" len="med"/>
                    </a:lnR>
                    <a:lnT w="12700" cap="flat" cmpd="sng" algn="ctr">
                      <a:solidFill>
                        <a:srgbClr val="D2E0E7"/>
                      </a:solidFill>
                      <a:prstDash val="solid"/>
                      <a:round/>
                      <a:headEnd type="none" w="med" len="med"/>
                      <a:tailEnd type="none" w="med" len="med"/>
                    </a:lnT>
                    <a:lnB w="12700" cap="flat" cmpd="sng" algn="ctr">
                      <a:solidFill>
                        <a:srgbClr val="D2E0E7"/>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6323F"/>
                          </a:solidFill>
                          <a:latin typeface="Calibri" pitchFamily="34" charset="0"/>
                          <a:ea typeface="Calibri" pitchFamily="34" charset="-122"/>
                          <a:cs typeface="Calibri" pitchFamily="34" charset="-120"/>
                        </a:rPr>
                        <a:t>0.333</a:t>
                      </a:r>
                      <a:endParaRPr lang="en-US" sz="1400" dirty="0">
                        <a:latin typeface="Calibri" charset="0"/>
                        <a:ea typeface="Calibri" charset="0"/>
                        <a:cs typeface="Calibri" charset="0"/>
                      </a:endParaRPr>
                    </a:p>
                  </a:txBody>
                  <a:tcPr marL="91440" marR="91440" marT="45720" marB="45720" anchor="ctr">
                    <a:lnL w="12700" cap="flat" cmpd="sng" algn="ctr">
                      <a:solidFill>
                        <a:srgbClr val="D2E0E7"/>
                      </a:solidFill>
                      <a:prstDash val="solid"/>
                      <a:round/>
                      <a:headEnd type="none" w="med" len="med"/>
                      <a:tailEnd type="none" w="med" len="med"/>
                    </a:lnL>
                    <a:lnR w="12700" cap="flat" cmpd="sng" algn="ctr">
                      <a:solidFill>
                        <a:srgbClr val="D2E0E7"/>
                      </a:solidFill>
                      <a:prstDash val="solid"/>
                      <a:round/>
                      <a:headEnd type="none" w="med" len="med"/>
                      <a:tailEnd type="none" w="med" len="med"/>
                    </a:lnR>
                    <a:lnT w="12700" cap="flat" cmpd="sng" algn="ctr">
                      <a:solidFill>
                        <a:srgbClr val="D2E0E7"/>
                      </a:solidFill>
                      <a:prstDash val="solid"/>
                      <a:round/>
                      <a:headEnd type="none" w="med" len="med"/>
                      <a:tailEnd type="none" w="med" len="med"/>
                    </a:lnT>
                    <a:lnB w="12700" cap="flat" cmpd="sng" algn="ctr">
                      <a:solidFill>
                        <a:srgbClr val="D2E0E7"/>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6323F"/>
                          </a:solidFill>
                          <a:latin typeface="Calibri" pitchFamily="34" charset="0"/>
                          <a:ea typeface="Calibri" pitchFamily="34" charset="-122"/>
                          <a:cs typeface="Calibri" pitchFamily="34" charset="-120"/>
                        </a:rPr>
                        <a:t>0.500</a:t>
                      </a:r>
                      <a:endParaRPr lang="en-US" sz="1400" dirty="0">
                        <a:latin typeface="Calibri" charset="0"/>
                        <a:ea typeface="Calibri" charset="0"/>
                        <a:cs typeface="Calibri" charset="0"/>
                      </a:endParaRPr>
                    </a:p>
                  </a:txBody>
                  <a:tcPr marL="91440" marR="91440" marT="45720" marB="45720" anchor="ctr">
                    <a:lnL w="12700" cap="flat" cmpd="sng" algn="ctr">
                      <a:solidFill>
                        <a:srgbClr val="D2E0E7"/>
                      </a:solidFill>
                      <a:prstDash val="solid"/>
                      <a:round/>
                      <a:headEnd type="none" w="med" len="med"/>
                      <a:tailEnd type="none" w="med" len="med"/>
                    </a:lnL>
                    <a:lnR w="12700" cap="flat" cmpd="sng" algn="ctr">
                      <a:solidFill>
                        <a:srgbClr val="D2E0E7"/>
                      </a:solidFill>
                      <a:prstDash val="solid"/>
                      <a:round/>
                      <a:headEnd type="none" w="med" len="med"/>
                      <a:tailEnd type="none" w="med" len="med"/>
                    </a:lnR>
                    <a:lnT w="12700" cap="flat" cmpd="sng" algn="ctr">
                      <a:solidFill>
                        <a:srgbClr val="D2E0E7"/>
                      </a:solidFill>
                      <a:prstDash val="solid"/>
                      <a:round/>
                      <a:headEnd type="none" w="med" len="med"/>
                      <a:tailEnd type="none" w="med" len="med"/>
                    </a:lnT>
                    <a:lnB w="12700" cap="flat" cmpd="sng" algn="ctr">
                      <a:solidFill>
                        <a:srgbClr val="D2E0E7"/>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6323F"/>
                          </a:solidFill>
                          <a:latin typeface="Calibri" pitchFamily="34" charset="0"/>
                          <a:ea typeface="Calibri" pitchFamily="34" charset="-122"/>
                          <a:cs typeface="Calibri" pitchFamily="34" charset="-120"/>
                        </a:rPr>
                        <a:t>low</a:t>
                      </a:r>
                      <a:endParaRPr lang="en-US" sz="1400" dirty="0">
                        <a:latin typeface="Calibri" charset="0"/>
                        <a:ea typeface="Calibri" charset="0"/>
                        <a:cs typeface="Calibri" charset="0"/>
                      </a:endParaRPr>
                    </a:p>
                  </a:txBody>
                  <a:tcPr marL="91440" marR="91440" marT="45720" marB="45720" anchor="ctr">
                    <a:lnL w="12700" cap="flat" cmpd="sng" algn="ctr">
                      <a:solidFill>
                        <a:srgbClr val="D2E0E7"/>
                      </a:solidFill>
                      <a:prstDash val="solid"/>
                      <a:round/>
                      <a:headEnd type="none" w="med" len="med"/>
                      <a:tailEnd type="none" w="med" len="med"/>
                    </a:lnL>
                    <a:lnR w="12700" cap="flat" cmpd="sng" algn="ctr">
                      <a:solidFill>
                        <a:srgbClr val="D2E0E7"/>
                      </a:solidFill>
                      <a:prstDash val="solid"/>
                      <a:round/>
                      <a:headEnd type="none" w="med" len="med"/>
                      <a:tailEnd type="none" w="med" len="med"/>
                    </a:lnR>
                    <a:lnT w="12700" cap="flat" cmpd="sng" algn="ctr">
                      <a:solidFill>
                        <a:srgbClr val="D2E0E7"/>
                      </a:solidFill>
                      <a:prstDash val="solid"/>
                      <a:round/>
                      <a:headEnd type="none" w="med" len="med"/>
                      <a:tailEnd type="none" w="med" len="med"/>
                    </a:lnT>
                    <a:lnB w="12700" cap="flat" cmpd="sng" algn="ctr">
                      <a:solidFill>
                        <a:srgbClr val="D2E0E7"/>
                      </a:solidFill>
                      <a:prstDash val="solid"/>
                      <a:round/>
                      <a:headEnd type="none" w="med" len="med"/>
                      <a:tailEnd type="none" w="med" len="med"/>
                    </a:lnB>
                    <a:solidFill>
                      <a:srgbClr val="FFFFFF"/>
                    </a:solidFill>
                  </a:tcPr>
                </a:tc>
              </a:tr>
              <a:tr h="514350">
                <a:tc>
                  <a:txBody>
                    <a:bodyPr/>
                    <a:lstStyle/>
                    <a:p>
                      <a:pPr algn="ctr" indent="0" marL="0">
                        <a:buNone/>
                      </a:pPr>
                      <a:r>
                        <a:rPr lang="en-US" sz="1400" dirty="0">
                          <a:solidFill>
                            <a:srgbClr val="16323F"/>
                          </a:solidFill>
                          <a:latin typeface="Calibri" pitchFamily="34" charset="0"/>
                          <a:ea typeface="Calibri" pitchFamily="34" charset="-122"/>
                          <a:cs typeface="Calibri" pitchFamily="34" charset="-120"/>
                        </a:rPr>
                        <a:t>G</a:t>
                      </a:r>
                      <a:endParaRPr lang="en-US" sz="1400" dirty="0">
                        <a:latin typeface="Calibri" charset="0"/>
                        <a:ea typeface="Calibri" charset="0"/>
                        <a:cs typeface="Calibri" charset="0"/>
                      </a:endParaRPr>
                    </a:p>
                  </a:txBody>
                  <a:tcPr marL="91440" marR="91440" marT="45720" marB="45720" anchor="ctr">
                    <a:lnL w="12700" cap="flat" cmpd="sng" algn="ctr">
                      <a:solidFill>
                        <a:srgbClr val="D2E0E7"/>
                      </a:solidFill>
                      <a:prstDash val="solid"/>
                      <a:round/>
                      <a:headEnd type="none" w="med" len="med"/>
                      <a:tailEnd type="none" w="med" len="med"/>
                    </a:lnL>
                    <a:lnR w="12700" cap="flat" cmpd="sng" algn="ctr">
                      <a:solidFill>
                        <a:srgbClr val="D2E0E7"/>
                      </a:solidFill>
                      <a:prstDash val="solid"/>
                      <a:round/>
                      <a:headEnd type="none" w="med" len="med"/>
                      <a:tailEnd type="none" w="med" len="med"/>
                    </a:lnR>
                    <a:lnT w="12700" cap="flat" cmpd="sng" algn="ctr">
                      <a:solidFill>
                        <a:srgbClr val="D2E0E7"/>
                      </a:solidFill>
                      <a:prstDash val="solid"/>
                      <a:round/>
                      <a:headEnd type="none" w="med" len="med"/>
                      <a:tailEnd type="none" w="med" len="med"/>
                    </a:lnT>
                    <a:lnB w="12700" cap="flat" cmpd="sng" algn="ctr">
                      <a:solidFill>
                        <a:srgbClr val="D2E0E7"/>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6323F"/>
                          </a:solidFill>
                          <a:latin typeface="Calibri" pitchFamily="34" charset="0"/>
                          <a:ea typeface="Calibri" pitchFamily="34" charset="-122"/>
                          <a:cs typeface="Calibri" pitchFamily="34" charset="-120"/>
                        </a:rPr>
                        <a:t>0.131</a:t>
                      </a:r>
                      <a:endParaRPr lang="en-US" sz="1400" dirty="0">
                        <a:latin typeface="Calibri" charset="0"/>
                        <a:ea typeface="Calibri" charset="0"/>
                        <a:cs typeface="Calibri" charset="0"/>
                      </a:endParaRPr>
                    </a:p>
                  </a:txBody>
                  <a:tcPr marL="91440" marR="91440" marT="45720" marB="45720" anchor="ctr">
                    <a:lnL w="12700" cap="flat" cmpd="sng" algn="ctr">
                      <a:solidFill>
                        <a:srgbClr val="D2E0E7"/>
                      </a:solidFill>
                      <a:prstDash val="solid"/>
                      <a:round/>
                      <a:headEnd type="none" w="med" len="med"/>
                      <a:tailEnd type="none" w="med" len="med"/>
                    </a:lnL>
                    <a:lnR w="12700" cap="flat" cmpd="sng" algn="ctr">
                      <a:solidFill>
                        <a:srgbClr val="D2E0E7"/>
                      </a:solidFill>
                      <a:prstDash val="solid"/>
                      <a:round/>
                      <a:headEnd type="none" w="med" len="med"/>
                      <a:tailEnd type="none" w="med" len="med"/>
                    </a:lnR>
                    <a:lnT w="12700" cap="flat" cmpd="sng" algn="ctr">
                      <a:solidFill>
                        <a:srgbClr val="D2E0E7"/>
                      </a:solidFill>
                      <a:prstDash val="solid"/>
                      <a:round/>
                      <a:headEnd type="none" w="med" len="med"/>
                      <a:tailEnd type="none" w="med" len="med"/>
                    </a:lnT>
                    <a:lnB w="12700" cap="flat" cmpd="sng" algn="ctr">
                      <a:solidFill>
                        <a:srgbClr val="D2E0E7"/>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6323F"/>
                          </a:solidFill>
                          <a:latin typeface="Calibri" pitchFamily="34" charset="0"/>
                          <a:ea typeface="Calibri" pitchFamily="34" charset="-122"/>
                          <a:cs typeface="Calibri" pitchFamily="34" charset="-120"/>
                        </a:rPr>
                        <a:t>0.200</a:t>
                      </a:r>
                      <a:endParaRPr lang="en-US" sz="1400" dirty="0">
                        <a:latin typeface="Calibri" charset="0"/>
                        <a:ea typeface="Calibri" charset="0"/>
                        <a:cs typeface="Calibri" charset="0"/>
                      </a:endParaRPr>
                    </a:p>
                  </a:txBody>
                  <a:tcPr marL="91440" marR="91440" marT="45720" marB="45720" anchor="ctr">
                    <a:lnL w="12700" cap="flat" cmpd="sng" algn="ctr">
                      <a:solidFill>
                        <a:srgbClr val="D2E0E7"/>
                      </a:solidFill>
                      <a:prstDash val="solid"/>
                      <a:round/>
                      <a:headEnd type="none" w="med" len="med"/>
                      <a:tailEnd type="none" w="med" len="med"/>
                    </a:lnL>
                    <a:lnR w="12700" cap="flat" cmpd="sng" algn="ctr">
                      <a:solidFill>
                        <a:srgbClr val="D2E0E7"/>
                      </a:solidFill>
                      <a:prstDash val="solid"/>
                      <a:round/>
                      <a:headEnd type="none" w="med" len="med"/>
                      <a:tailEnd type="none" w="med" len="med"/>
                    </a:lnR>
                    <a:lnT w="12700" cap="flat" cmpd="sng" algn="ctr">
                      <a:solidFill>
                        <a:srgbClr val="D2E0E7"/>
                      </a:solidFill>
                      <a:prstDash val="solid"/>
                      <a:round/>
                      <a:headEnd type="none" w="med" len="med"/>
                      <a:tailEnd type="none" w="med" len="med"/>
                    </a:lnT>
                    <a:lnB w="12700" cap="flat" cmpd="sng" algn="ctr">
                      <a:solidFill>
                        <a:srgbClr val="D2E0E7"/>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6323F"/>
                          </a:solidFill>
                          <a:latin typeface="Calibri" pitchFamily="34" charset="0"/>
                          <a:ea typeface="Calibri" pitchFamily="34" charset="-122"/>
                          <a:cs typeface="Calibri" pitchFamily="34" charset="-120"/>
                        </a:rPr>
                        <a:t>medium</a:t>
                      </a:r>
                      <a:endParaRPr lang="en-US" sz="1400" dirty="0">
                        <a:latin typeface="Calibri" charset="0"/>
                        <a:ea typeface="Calibri" charset="0"/>
                        <a:cs typeface="Calibri" charset="0"/>
                      </a:endParaRPr>
                    </a:p>
                  </a:txBody>
                  <a:tcPr marL="91440" marR="91440" marT="45720" marB="45720" anchor="ctr">
                    <a:lnL w="12700" cap="flat" cmpd="sng" algn="ctr">
                      <a:solidFill>
                        <a:srgbClr val="D2E0E7"/>
                      </a:solidFill>
                      <a:prstDash val="solid"/>
                      <a:round/>
                      <a:headEnd type="none" w="med" len="med"/>
                      <a:tailEnd type="none" w="med" len="med"/>
                    </a:lnL>
                    <a:lnR w="12700" cap="flat" cmpd="sng" algn="ctr">
                      <a:solidFill>
                        <a:srgbClr val="D2E0E7"/>
                      </a:solidFill>
                      <a:prstDash val="solid"/>
                      <a:round/>
                      <a:headEnd type="none" w="med" len="med"/>
                      <a:tailEnd type="none" w="med" len="med"/>
                    </a:lnR>
                    <a:lnT w="12700" cap="flat" cmpd="sng" algn="ctr">
                      <a:solidFill>
                        <a:srgbClr val="D2E0E7"/>
                      </a:solidFill>
                      <a:prstDash val="solid"/>
                      <a:round/>
                      <a:headEnd type="none" w="med" len="med"/>
                      <a:tailEnd type="none" w="med" len="med"/>
                    </a:lnT>
                    <a:lnB w="12700" cap="flat" cmpd="sng" algn="ctr">
                      <a:solidFill>
                        <a:srgbClr val="D2E0E7"/>
                      </a:solidFill>
                      <a:prstDash val="solid"/>
                      <a:round/>
                      <a:headEnd type="none" w="med" len="med"/>
                      <a:tailEnd type="none" w="med" len="med"/>
                    </a:lnB>
                    <a:solidFill>
                      <a:srgbClr val="FFFFFF"/>
                    </a:solidFill>
                  </a:tcPr>
                </a:tc>
              </a:tr>
              <a:tr h="514350">
                <a:tc>
                  <a:txBody>
                    <a:bodyPr/>
                    <a:lstStyle/>
                    <a:p>
                      <a:pPr algn="ctr" indent="0" marL="0">
                        <a:buNone/>
                      </a:pPr>
                      <a:r>
                        <a:rPr lang="en-US" sz="1400" dirty="0">
                          <a:solidFill>
                            <a:srgbClr val="16323F"/>
                          </a:solidFill>
                          <a:latin typeface="Calibri" pitchFamily="34" charset="0"/>
                          <a:ea typeface="Calibri" pitchFamily="34" charset="-122"/>
                          <a:cs typeface="Calibri" pitchFamily="34" charset="-120"/>
                        </a:rPr>
                        <a:t>B</a:t>
                      </a:r>
                      <a:endParaRPr lang="en-US" sz="1400" dirty="0">
                        <a:latin typeface="Calibri" charset="0"/>
                        <a:ea typeface="Calibri" charset="0"/>
                        <a:cs typeface="Calibri" charset="0"/>
                      </a:endParaRPr>
                    </a:p>
                  </a:txBody>
                  <a:tcPr marL="91440" marR="91440" marT="45720" marB="45720" anchor="ctr">
                    <a:lnL w="12700" cap="flat" cmpd="sng" algn="ctr">
                      <a:solidFill>
                        <a:srgbClr val="D2E0E7"/>
                      </a:solidFill>
                      <a:prstDash val="solid"/>
                      <a:round/>
                      <a:headEnd type="none" w="med" len="med"/>
                      <a:tailEnd type="none" w="med" len="med"/>
                    </a:lnL>
                    <a:lnR w="12700" cap="flat" cmpd="sng" algn="ctr">
                      <a:solidFill>
                        <a:srgbClr val="D2E0E7"/>
                      </a:solidFill>
                      <a:prstDash val="solid"/>
                      <a:round/>
                      <a:headEnd type="none" w="med" len="med"/>
                      <a:tailEnd type="none" w="med" len="med"/>
                    </a:lnR>
                    <a:lnT w="12700" cap="flat" cmpd="sng" algn="ctr">
                      <a:solidFill>
                        <a:srgbClr val="D2E0E7"/>
                      </a:solidFill>
                      <a:prstDash val="solid"/>
                      <a:round/>
                      <a:headEnd type="none" w="med" len="med"/>
                      <a:tailEnd type="none" w="med" len="med"/>
                    </a:lnT>
                    <a:lnB w="12700" cap="flat" cmpd="sng" algn="ctr">
                      <a:solidFill>
                        <a:srgbClr val="D2E0E7"/>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6323F"/>
                          </a:solidFill>
                          <a:latin typeface="Calibri" pitchFamily="34" charset="0"/>
                          <a:ea typeface="Calibri" pitchFamily="34" charset="-122"/>
                          <a:cs typeface="Calibri" pitchFamily="34" charset="-120"/>
                        </a:rPr>
                        <a:t>0.105</a:t>
                      </a:r>
                      <a:endParaRPr lang="en-US" sz="1400" dirty="0">
                        <a:latin typeface="Calibri" charset="0"/>
                        <a:ea typeface="Calibri" charset="0"/>
                        <a:cs typeface="Calibri" charset="0"/>
                      </a:endParaRPr>
                    </a:p>
                  </a:txBody>
                  <a:tcPr marL="91440" marR="91440" marT="45720" marB="45720" anchor="ctr">
                    <a:lnL w="12700" cap="flat" cmpd="sng" algn="ctr">
                      <a:solidFill>
                        <a:srgbClr val="D2E0E7"/>
                      </a:solidFill>
                      <a:prstDash val="solid"/>
                      <a:round/>
                      <a:headEnd type="none" w="med" len="med"/>
                      <a:tailEnd type="none" w="med" len="med"/>
                    </a:lnL>
                    <a:lnR w="12700" cap="flat" cmpd="sng" algn="ctr">
                      <a:solidFill>
                        <a:srgbClr val="D2E0E7"/>
                      </a:solidFill>
                      <a:prstDash val="solid"/>
                      <a:round/>
                      <a:headEnd type="none" w="med" len="med"/>
                      <a:tailEnd type="none" w="med" len="med"/>
                    </a:lnR>
                    <a:lnT w="12700" cap="flat" cmpd="sng" algn="ctr">
                      <a:solidFill>
                        <a:srgbClr val="D2E0E7"/>
                      </a:solidFill>
                      <a:prstDash val="solid"/>
                      <a:round/>
                      <a:headEnd type="none" w="med" len="med"/>
                      <a:tailEnd type="none" w="med" len="med"/>
                    </a:lnT>
                    <a:lnB w="12700" cap="flat" cmpd="sng" algn="ctr">
                      <a:solidFill>
                        <a:srgbClr val="D2E0E7"/>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6323F"/>
                          </a:solidFill>
                          <a:latin typeface="Calibri" pitchFamily="34" charset="0"/>
                          <a:ea typeface="Calibri" pitchFamily="34" charset="-122"/>
                          <a:cs typeface="Calibri" pitchFamily="34" charset="-120"/>
                        </a:rPr>
                        <a:t>0.165</a:t>
                      </a:r>
                      <a:endParaRPr lang="en-US" sz="1400" dirty="0">
                        <a:latin typeface="Calibri" charset="0"/>
                        <a:ea typeface="Calibri" charset="0"/>
                        <a:cs typeface="Calibri" charset="0"/>
                      </a:endParaRPr>
                    </a:p>
                  </a:txBody>
                  <a:tcPr marL="91440" marR="91440" marT="45720" marB="45720" anchor="ctr">
                    <a:lnL w="12700" cap="flat" cmpd="sng" algn="ctr">
                      <a:solidFill>
                        <a:srgbClr val="D2E0E7"/>
                      </a:solidFill>
                      <a:prstDash val="solid"/>
                      <a:round/>
                      <a:headEnd type="none" w="med" len="med"/>
                      <a:tailEnd type="none" w="med" len="med"/>
                    </a:lnL>
                    <a:lnR w="12700" cap="flat" cmpd="sng" algn="ctr">
                      <a:solidFill>
                        <a:srgbClr val="D2E0E7"/>
                      </a:solidFill>
                      <a:prstDash val="solid"/>
                      <a:round/>
                      <a:headEnd type="none" w="med" len="med"/>
                      <a:tailEnd type="none" w="med" len="med"/>
                    </a:lnR>
                    <a:lnT w="12700" cap="flat" cmpd="sng" algn="ctr">
                      <a:solidFill>
                        <a:srgbClr val="D2E0E7"/>
                      </a:solidFill>
                      <a:prstDash val="solid"/>
                      <a:round/>
                      <a:headEnd type="none" w="med" len="med"/>
                      <a:tailEnd type="none" w="med" len="med"/>
                    </a:lnT>
                    <a:lnB w="12700" cap="flat" cmpd="sng" algn="ctr">
                      <a:solidFill>
                        <a:srgbClr val="D2E0E7"/>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6323F"/>
                          </a:solidFill>
                          <a:latin typeface="Calibri" pitchFamily="34" charset="0"/>
                          <a:ea typeface="Calibri" pitchFamily="34" charset="-122"/>
                          <a:cs typeface="Calibri" pitchFamily="34" charset="-120"/>
                        </a:rPr>
                        <a:t>high</a:t>
                      </a:r>
                      <a:endParaRPr lang="en-US" sz="1400" dirty="0">
                        <a:latin typeface="Calibri" charset="0"/>
                        <a:ea typeface="Calibri" charset="0"/>
                        <a:cs typeface="Calibri" charset="0"/>
                      </a:endParaRPr>
                    </a:p>
                  </a:txBody>
                  <a:tcPr marL="91440" marR="91440" marT="45720" marB="45720" anchor="ctr">
                    <a:lnL w="12700" cap="flat" cmpd="sng" algn="ctr">
                      <a:solidFill>
                        <a:srgbClr val="D2E0E7"/>
                      </a:solidFill>
                      <a:prstDash val="solid"/>
                      <a:round/>
                      <a:headEnd type="none" w="med" len="med"/>
                      <a:tailEnd type="none" w="med" len="med"/>
                    </a:lnL>
                    <a:lnR w="12700" cap="flat" cmpd="sng" algn="ctr">
                      <a:solidFill>
                        <a:srgbClr val="D2E0E7"/>
                      </a:solidFill>
                      <a:prstDash val="solid"/>
                      <a:round/>
                      <a:headEnd type="none" w="med" len="med"/>
                      <a:tailEnd type="none" w="med" len="med"/>
                    </a:lnR>
                    <a:lnT w="12700" cap="flat" cmpd="sng" algn="ctr">
                      <a:solidFill>
                        <a:srgbClr val="D2E0E7"/>
                      </a:solidFill>
                      <a:prstDash val="solid"/>
                      <a:round/>
                      <a:headEnd type="none" w="med" len="med"/>
                      <a:tailEnd type="none" w="med" len="med"/>
                    </a:lnT>
                    <a:lnB w="12700" cap="flat" cmpd="sng" algn="ctr">
                      <a:solidFill>
                        <a:srgbClr val="D2E0E7"/>
                      </a:solidFill>
                      <a:prstDash val="solid"/>
                      <a:round/>
                      <a:headEnd type="none" w="med" len="med"/>
                      <a:tailEnd type="none" w="med" len="med"/>
                    </a:lnB>
                    <a:solidFill>
                      <a:srgbClr val="FFFFFF"/>
                    </a:solidFill>
                  </a:tcPr>
                </a:tc>
              </a:tr>
            </a:tbl>
          </a:graphicData>
        </a:graphic>
      </p:graphicFrame>
      <p:pic>
        <p:nvPicPr>
          <p:cNvPr id="7" name="Image 0" descr="C:\Users\liang\AppData\Local\Temp\claude\C--Users-liang-Downloads-hw-3-zach-and-blair\c371b1d7-b46c-45f5-acfc-41f05ec1c6e6\scratchpad\deck\img\kd_plot.png">    </p:cNvPr>
          <p:cNvPicPr>
            <a:picLocks noChangeAspect="1"/>
          </p:cNvPicPr>
          <p:nvPr/>
        </p:nvPicPr>
        <p:blipFill>
          <a:blip r:embed="rId1"/>
          <a:stretch>
            <a:fillRect/>
          </a:stretch>
        </p:blipFill>
        <p:spPr>
          <a:xfrm>
            <a:off x="457200" y="3977640"/>
            <a:ext cx="6949440" cy="2843784"/>
          </a:xfrm>
          <a:prstGeom prst="rect">
            <a:avLst/>
          </a:prstGeom>
        </p:spPr>
      </p:pic>
      <p:sp>
        <p:nvSpPr>
          <p:cNvPr id="8" name="Shape 4"/>
          <p:cNvSpPr/>
          <p:nvPr/>
        </p:nvSpPr>
        <p:spPr>
          <a:xfrm>
            <a:off x="7680960" y="3977640"/>
            <a:ext cx="4050792" cy="1691640"/>
          </a:xfrm>
          <a:prstGeom prst="roundRect">
            <a:avLst>
              <a:gd name="adj" fmla="val 4324"/>
            </a:avLst>
          </a:prstGeom>
          <a:solidFill>
            <a:srgbClr val="FFFFFF"/>
          </a:solidFill>
          <a:ln w="12700">
            <a:solidFill>
              <a:srgbClr val="D2E0E7"/>
            </a:solidFill>
            <a:prstDash val="solid"/>
          </a:ln>
        </p:spPr>
      </p:sp>
      <p:sp>
        <p:nvSpPr>
          <p:cNvPr id="9" name="Text 5"/>
          <p:cNvSpPr/>
          <p:nvPr/>
        </p:nvSpPr>
        <p:spPr>
          <a:xfrm>
            <a:off x="7909560" y="4114800"/>
            <a:ext cx="3611880" cy="320040"/>
          </a:xfrm>
          <a:prstGeom prst="rect">
            <a:avLst/>
          </a:prstGeom>
          <a:noFill/>
          <a:ln/>
        </p:spPr>
        <p:txBody>
          <a:bodyPr wrap="square" rtlCol="0" anchor="ctr"/>
          <a:lstStyle/>
          <a:p>
            <a:pPr indent="0" marL="0">
              <a:buNone/>
            </a:pPr>
            <a:r>
              <a:rPr lang="en-US" sz="1600" b="1" dirty="0">
                <a:solidFill>
                  <a:srgbClr val="065A82"/>
                </a:solidFill>
                <a:latin typeface="Calibri" pitchFamily="34" charset="0"/>
                <a:ea typeface="Calibri" pitchFamily="34" charset="-122"/>
                <a:cs typeface="Calibri" pitchFamily="34" charset="-120"/>
              </a:rPr>
              <a:t>Why it matters</a:t>
            </a:r>
            <a:endParaRPr lang="en-US" sz="1600" dirty="0"/>
          </a:p>
        </p:txBody>
      </p:sp>
      <p:sp>
        <p:nvSpPr>
          <p:cNvPr id="10" name="Text 6"/>
          <p:cNvSpPr/>
          <p:nvPr/>
        </p:nvSpPr>
        <p:spPr>
          <a:xfrm>
            <a:off x="7909560" y="4462272"/>
            <a:ext cx="3611880" cy="1143000"/>
          </a:xfrm>
          <a:prstGeom prst="rect">
            <a:avLst/>
          </a:prstGeom>
          <a:noFill/>
          <a:ln/>
        </p:spPr>
        <p:txBody>
          <a:bodyPr wrap="square" rtlCol="0" anchor="t"/>
          <a:lstStyle/>
          <a:p>
            <a:pPr indent="0" marL="0">
              <a:buNone/>
            </a:pPr>
            <a:r>
              <a:rPr lang="en-US" sz="1250" dirty="0">
                <a:solidFill>
                  <a:srgbClr val="16323F"/>
                </a:solidFill>
                <a:latin typeface="Calibri" pitchFamily="34" charset="0"/>
                <a:ea typeface="Calibri" pitchFamily="34" charset="-122"/>
                <a:cs typeface="Calibri" pitchFamily="34" charset="-120"/>
              </a:rPr>
              <a:t>The gap is biggest for blue and smallest for red, matching how much each color scatters versus absorbs. We didn't code that ordering in — it came out on its own.</a:t>
            </a:r>
            <a:endParaRPr lang="en-US" sz="1250" dirty="0"/>
          </a:p>
        </p:txBody>
      </p:sp>
      <p:sp>
        <p:nvSpPr>
          <p:cNvPr id="11" name="Shape 7"/>
          <p:cNvSpPr/>
          <p:nvPr/>
        </p:nvSpPr>
        <p:spPr>
          <a:xfrm>
            <a:off x="7680960" y="5806440"/>
            <a:ext cx="4050792" cy="1005840"/>
          </a:xfrm>
          <a:prstGeom prst="roundRect">
            <a:avLst>
              <a:gd name="adj" fmla="val 7273"/>
            </a:avLst>
          </a:prstGeom>
          <a:solidFill>
            <a:srgbClr val="065A82"/>
          </a:solidFill>
          <a:ln/>
        </p:spPr>
      </p:sp>
      <p:sp>
        <p:nvSpPr>
          <p:cNvPr id="12" name="Text 8"/>
          <p:cNvSpPr/>
          <p:nvPr/>
        </p:nvSpPr>
        <p:spPr>
          <a:xfrm>
            <a:off x="7909560" y="5897880"/>
            <a:ext cx="3611880" cy="292608"/>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Next week</a:t>
            </a:r>
            <a:endParaRPr lang="en-US" sz="1400" dirty="0"/>
          </a:p>
        </p:txBody>
      </p:sp>
      <p:sp>
        <p:nvSpPr>
          <p:cNvPr id="13" name="Text 9"/>
          <p:cNvSpPr/>
          <p:nvPr/>
        </p:nvSpPr>
        <p:spPr>
          <a:xfrm>
            <a:off x="7909560" y="6199632"/>
            <a:ext cx="3611880" cy="548640"/>
          </a:xfrm>
          <a:prstGeom prst="rect">
            <a:avLst/>
          </a:prstGeom>
          <a:noFill/>
          <a:ln/>
        </p:spPr>
        <p:txBody>
          <a:bodyPr wrap="square" rtlCol="0" anchor="t"/>
          <a:lstStyle/>
          <a:p>
            <a:pPr indent="0" marL="0">
              <a:buNone/>
            </a:pPr>
            <a:r>
              <a:rPr lang="en-US" sz="1200" dirty="0">
                <a:solidFill>
                  <a:srgbClr val="CADCFC"/>
                </a:solidFill>
                <a:latin typeface="Calibri" pitchFamily="34" charset="0"/>
                <a:ea typeface="Calibri" pitchFamily="34" charset="-122"/>
                <a:cs typeface="Calibri" pitchFamily="34" charset="-120"/>
              </a:rPr>
              <a:t>Real Henyey–Greenstein scattering, a Secchi-disk test, and a convergence study.</a:t>
            </a:r>
            <a:endParaRPr lang="en-US" sz="1200" dirty="0"/>
          </a:p>
        </p:txBody>
      </p:sp>
      <p:sp>
        <p:nvSpPr>
          <p:cNvPr id="14" name="Text 10"/>
          <p:cNvSpPr/>
          <p:nvPr/>
        </p:nvSpPr>
        <p:spPr>
          <a:xfrm>
            <a:off x="457200" y="3639312"/>
            <a:ext cx="3063240" cy="274320"/>
          </a:xfrm>
          <a:prstGeom prst="rect">
            <a:avLst/>
          </a:prstGeom>
          <a:noFill/>
          <a:ln/>
        </p:spPr>
        <p:txBody>
          <a:bodyPr wrap="square" rtlCol="0" anchor="ctr"/>
          <a:lstStyle/>
          <a:p>
            <a:pPr algn="ctr" indent="0" marL="0">
              <a:buNone/>
            </a:pPr>
            <a:r>
              <a:rPr lang="en-US" sz="1000" dirty="0">
                <a:solidFill>
                  <a:srgbClr val="5A7684"/>
                </a:solidFill>
                <a:latin typeface="Calibri" pitchFamily="34" charset="0"/>
                <a:ea typeface="Calibri" pitchFamily="34" charset="-122"/>
                <a:cs typeface="Calibri" pitchFamily="34" charset="-120"/>
              </a:rPr>
              <a:t>Photic  ·  CS 184 Summer 2026  ·  Zachary Liang &amp; Blair Xu</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2026-08-05T05:08:55Z</dcterms:created>
  <dcterms:modified xsi:type="dcterms:W3CDTF">2026-08-05T05:08:55Z</dcterms:modified>
</cp:coreProperties>
</file>